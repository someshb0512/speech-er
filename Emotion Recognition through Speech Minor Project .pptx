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 name="Shape 17"/>
        <p:cNvGrpSpPr/>
        <p:nvPr/>
      </p:nvGrpSpPr>
      <p:grpSpPr>
        <a:xfrm>
          <a:off x="0" y="0"/>
          <a:ext cx="0" cy="0"/>
          <a:chOff x="0" y="0"/>
          <a:chExt cx="0" cy="0"/>
        </a:xfrm>
      </p:grpSpPr>
      <p:sp>
        <p:nvSpPr>
          <p:cNvPr id="18" name="Google Shape;18;p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9" name="Google Shape;19;p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0" name="Google Shape;20;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7" name="Google Shape;27;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8" name="Google Shape;28;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ee.ic.ac.uk/hp/staff/dmb/voicebox/voicebox.html" TargetMode="External"/><Relationship Id="rId4" Type="http://schemas.openxmlformats.org/officeDocument/2006/relationships/hyperlink" Target="http://wearables.cc.gatech.edu/paper_of_week/DTW_myths.pdf" TargetMode="External"/><Relationship Id="rId5" Type="http://schemas.openxmlformats.org/officeDocument/2006/relationships/hyperlink" Target="http://www.phon.ox.ac.uk/jcoleman/old_SLP/Lecture_5/DTW_explanation.h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214975" y="264500"/>
            <a:ext cx="8617200" cy="1094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t/>
            </a:r>
            <a:endParaRPr sz="4200">
              <a:solidFill>
                <a:srgbClr val="000000"/>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5200"/>
              <a:buNone/>
            </a:pPr>
            <a:r>
              <a:rPr lang="en-GB" sz="4200">
                <a:solidFill>
                  <a:srgbClr val="000000"/>
                </a:solidFill>
                <a:latin typeface="Times New Roman"/>
                <a:ea typeface="Times New Roman"/>
                <a:cs typeface="Times New Roman"/>
                <a:sym typeface="Times New Roman"/>
              </a:rPr>
              <a:t>Emotion Extraction through Speech</a:t>
            </a:r>
            <a:endParaRPr sz="4200">
              <a:solidFill>
                <a:srgbClr val="000000"/>
              </a:solidFill>
              <a:latin typeface="Times New Roman"/>
              <a:ea typeface="Times New Roman"/>
              <a:cs typeface="Times New Roman"/>
              <a:sym typeface="Times New Roman"/>
            </a:endParaRPr>
          </a:p>
        </p:txBody>
      </p:sp>
      <p:sp>
        <p:nvSpPr>
          <p:cNvPr id="55" name="Google Shape;55;p13"/>
          <p:cNvSpPr txBox="1"/>
          <p:nvPr>
            <p:ph idx="1" type="subTitle"/>
          </p:nvPr>
        </p:nvSpPr>
        <p:spPr>
          <a:xfrm>
            <a:off x="311700" y="1583350"/>
            <a:ext cx="8520600" cy="336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b="1" sz="2100" u="sng">
              <a:solidFill>
                <a:srgbClr val="595959"/>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800"/>
              <a:buNone/>
            </a:pPr>
            <a:r>
              <a:t/>
            </a:r>
            <a:endParaRPr b="1" sz="2100" u="sng">
              <a:solidFill>
                <a:srgbClr val="595959"/>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800"/>
              <a:buNone/>
            </a:pPr>
            <a:r>
              <a:rPr b="1" lang="en-GB" sz="2100" u="sng">
                <a:solidFill>
                  <a:srgbClr val="595959"/>
                </a:solidFill>
                <a:latin typeface="Times New Roman"/>
                <a:ea typeface="Times New Roman"/>
                <a:cs typeface="Times New Roman"/>
                <a:sym typeface="Times New Roman"/>
              </a:rPr>
              <a:t>By:-</a:t>
            </a:r>
            <a:endParaRPr sz="2100">
              <a:solidFill>
                <a:srgbClr val="595959"/>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800"/>
              <a:buNone/>
            </a:pPr>
            <a:r>
              <a:rPr lang="en-GB" sz="2100">
                <a:solidFill>
                  <a:srgbClr val="595959"/>
                </a:solidFill>
                <a:latin typeface="Times New Roman"/>
                <a:ea typeface="Times New Roman"/>
                <a:cs typeface="Times New Roman"/>
                <a:sym typeface="Times New Roman"/>
              </a:rPr>
              <a:t>Somesh Bachani 18SCSE1180018</a:t>
            </a:r>
            <a:endParaRPr sz="2100">
              <a:solidFill>
                <a:srgbClr val="595959"/>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800"/>
              <a:buNone/>
            </a:pPr>
            <a:r>
              <a:t/>
            </a:r>
            <a:endParaRPr b="1" sz="2100">
              <a:solidFill>
                <a:srgbClr val="FFFFF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744575"/>
            <a:ext cx="8520600" cy="718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GB" sz="4000">
                <a:solidFill>
                  <a:srgbClr val="000000"/>
                </a:solidFill>
                <a:latin typeface="Times New Roman"/>
                <a:ea typeface="Times New Roman"/>
                <a:cs typeface="Times New Roman"/>
                <a:sym typeface="Times New Roman"/>
              </a:rPr>
              <a:t>Abstract</a:t>
            </a:r>
            <a:endParaRPr sz="4000">
              <a:solidFill>
                <a:srgbClr val="000000"/>
              </a:solidFill>
              <a:latin typeface="Times New Roman"/>
              <a:ea typeface="Times New Roman"/>
              <a:cs typeface="Times New Roman"/>
              <a:sym typeface="Times New Roman"/>
            </a:endParaRPr>
          </a:p>
        </p:txBody>
      </p:sp>
      <p:sp>
        <p:nvSpPr>
          <p:cNvPr id="61" name="Google Shape;61;p14"/>
          <p:cNvSpPr txBox="1"/>
          <p:nvPr>
            <p:ph idx="1" type="subTitle"/>
          </p:nvPr>
        </p:nvSpPr>
        <p:spPr>
          <a:xfrm>
            <a:off x="311700" y="1864975"/>
            <a:ext cx="8520600" cy="2569500"/>
          </a:xfrm>
          <a:prstGeom prst="rect">
            <a:avLst/>
          </a:prstGeom>
          <a:noFill/>
          <a:ln>
            <a:noFill/>
          </a:ln>
        </p:spPr>
        <p:txBody>
          <a:bodyPr anchorCtr="0" anchor="t" bIns="91425" lIns="91425" spcFirstLastPara="1" rIns="91425" wrap="square" tIns="91425">
            <a:noAutofit/>
          </a:bodyPr>
          <a:lstStyle/>
          <a:p>
            <a:pPr indent="0" lvl="0" marL="330835" marR="617855" rtl="0" algn="l">
              <a:lnSpc>
                <a:spcPct val="86666"/>
              </a:lnSpc>
              <a:spcBef>
                <a:spcPts val="1215"/>
              </a:spcBef>
              <a:spcAft>
                <a:spcPts val="0"/>
              </a:spcAft>
              <a:buClr>
                <a:schemeClr val="dk1"/>
              </a:buClr>
              <a:buSzPts val="1100"/>
              <a:buFont typeface="Arial"/>
              <a:buNone/>
            </a:pPr>
            <a:r>
              <a:rPr lang="en-GB" sz="2400">
                <a:solidFill>
                  <a:srgbClr val="000000"/>
                </a:solidFill>
                <a:latin typeface="Times New Roman"/>
                <a:ea typeface="Times New Roman"/>
                <a:cs typeface="Times New Roman"/>
                <a:sym typeface="Times New Roman"/>
              </a:rPr>
              <a:t>Emotion Recognition using Mel-frequency cepstral coefficients and Dynamic time warping is used to determine the emotion of the speaker from his voice. The speech signal given by the speaker is compared with the database which consists of various sentences which define the various emotions of the language.</a:t>
            </a:r>
            <a:endParaRPr sz="2400">
              <a:solidFill>
                <a:srgbClr val="000000"/>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2800"/>
              <a:buNone/>
            </a:pPr>
            <a:r>
              <a:t/>
            </a:r>
            <a:endParaRPr sz="24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sz="2700">
                <a:solidFill>
                  <a:srgbClr val="000000"/>
                </a:solidFill>
                <a:latin typeface="Times New Roman"/>
                <a:ea typeface="Times New Roman"/>
                <a:cs typeface="Times New Roman"/>
                <a:sym typeface="Times New Roman"/>
              </a:rPr>
              <a:t>Methodology:</a:t>
            </a:r>
            <a:endParaRPr b="1" sz="27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800"/>
              <a:buNone/>
            </a:pPr>
            <a:r>
              <a:t/>
            </a:r>
            <a:endParaRPr>
              <a:solidFill>
                <a:srgbClr val="000000"/>
              </a:solidFill>
            </a:endParaRPr>
          </a:p>
        </p:txBody>
      </p:sp>
      <p:sp>
        <p:nvSpPr>
          <p:cNvPr id="67" name="Google Shape;67;p15"/>
          <p:cNvSpPr txBox="1"/>
          <p:nvPr>
            <p:ph idx="1" type="body"/>
          </p:nvPr>
        </p:nvSpPr>
        <p:spPr>
          <a:xfrm>
            <a:off x="311700" y="1152475"/>
            <a:ext cx="4128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rgbClr val="000000"/>
                </a:solidFill>
              </a:rPr>
              <a:t>In order to determine the emotion of the received speech signal, we have to obtain various features like energy, power spectral density (PSD) etc. of the signal and compare it with the recorded database. We are achieving this using MFCC. Also, in order to eliminate the difference between the database and the input signal, we use a method called Time Warping.</a:t>
            </a:r>
            <a:endParaRPr>
              <a:solidFill>
                <a:srgbClr val="000000"/>
              </a:solidFill>
            </a:endParaRPr>
          </a:p>
          <a:p>
            <a:pPr indent="0" lvl="0" marL="0" rtl="0" algn="l">
              <a:lnSpc>
                <a:spcPct val="115000"/>
              </a:lnSpc>
              <a:spcBef>
                <a:spcPts val="1600"/>
              </a:spcBef>
              <a:spcAft>
                <a:spcPts val="1600"/>
              </a:spcAft>
              <a:buSzPts val="1800"/>
              <a:buNone/>
            </a:pPr>
            <a:r>
              <a:t/>
            </a:r>
            <a:endParaRPr>
              <a:solidFill>
                <a:srgbClr val="000000"/>
              </a:solidFill>
            </a:endParaRPr>
          </a:p>
        </p:txBody>
      </p:sp>
      <p:pic>
        <p:nvPicPr>
          <p:cNvPr id="68" name="Google Shape;68;p15"/>
          <p:cNvPicPr preferRelativeResize="0"/>
          <p:nvPr/>
        </p:nvPicPr>
        <p:blipFill rotWithShape="1">
          <a:blip r:embed="rId3">
            <a:alphaModFix/>
          </a:blip>
          <a:srcRect b="0" l="0" r="0" t="0"/>
          <a:stretch/>
        </p:blipFill>
        <p:spPr>
          <a:xfrm>
            <a:off x="4526725" y="1396700"/>
            <a:ext cx="3994549" cy="2740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196975" y="297125"/>
            <a:ext cx="70833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sz="2400">
                <a:solidFill>
                  <a:srgbClr val="000000"/>
                </a:solidFill>
                <a:latin typeface="Times New Roman"/>
                <a:ea typeface="Times New Roman"/>
                <a:cs typeface="Times New Roman"/>
                <a:sym typeface="Times New Roman"/>
              </a:rPr>
              <a:t>MFCC(Mel-frequency cepstral coefficients)</a:t>
            </a:r>
            <a:endParaRPr b="1" sz="2400">
              <a:solidFill>
                <a:srgbClr val="000000"/>
              </a:solidFill>
              <a:latin typeface="Times New Roman"/>
              <a:ea typeface="Times New Roman"/>
              <a:cs typeface="Times New Roman"/>
              <a:sym typeface="Times New Roman"/>
            </a:endParaRPr>
          </a:p>
        </p:txBody>
      </p:sp>
      <p:sp>
        <p:nvSpPr>
          <p:cNvPr id="74" name="Google Shape;74;p16"/>
          <p:cNvSpPr txBox="1"/>
          <p:nvPr>
            <p:ph idx="1" type="body"/>
          </p:nvPr>
        </p:nvSpPr>
        <p:spPr>
          <a:xfrm>
            <a:off x="196975" y="736825"/>
            <a:ext cx="8478900" cy="161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en-GB" sz="1400">
                <a:solidFill>
                  <a:srgbClr val="000000"/>
                </a:solidFill>
                <a:latin typeface="Times New Roman"/>
                <a:ea typeface="Times New Roman"/>
                <a:cs typeface="Times New Roman"/>
                <a:sym typeface="Times New Roman"/>
              </a:rPr>
              <a:t>We Use MFCC for a cepstral representation of the audio clip (a nonlinear "spectrum-of-a-spectrum").a signal goes through a pre-emphasis filter; then gets sliced into (overlapping) frames and a window function is applied to each frame; afterwards, we do a Fourier transform on each frame (or more specifically a Short-Time Fourier Transform) and calculate the power spectrum; and subsequently compute the filter banks. To obtain MFCCs, a Discrete Cosine Transform (DCT) is applied to the filter banks retaining a number of the resulting coefficients while the rest are discarded. A final step is mean normalization.</a:t>
            </a:r>
            <a:endParaRPr sz="1000">
              <a:solidFill>
                <a:srgbClr val="000000"/>
              </a:solidFill>
              <a:latin typeface="Times New Roman"/>
              <a:ea typeface="Times New Roman"/>
              <a:cs typeface="Times New Roman"/>
              <a:sym typeface="Times New Roman"/>
            </a:endParaRPr>
          </a:p>
        </p:txBody>
      </p:sp>
      <p:pic>
        <p:nvPicPr>
          <p:cNvPr id="75" name="Google Shape;75;p16"/>
          <p:cNvPicPr preferRelativeResize="0"/>
          <p:nvPr/>
        </p:nvPicPr>
        <p:blipFill rotWithShape="1">
          <a:blip r:embed="rId3">
            <a:alphaModFix/>
          </a:blip>
          <a:srcRect b="0" l="0" r="0" t="0"/>
          <a:stretch/>
        </p:blipFill>
        <p:spPr>
          <a:xfrm>
            <a:off x="635650" y="2419475"/>
            <a:ext cx="8040225" cy="2450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7050"/>
            <a:ext cx="3258900" cy="109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GB" sz="2800">
                <a:solidFill>
                  <a:srgbClr val="000000"/>
                </a:solidFill>
                <a:latin typeface="Times New Roman"/>
                <a:ea typeface="Times New Roman"/>
                <a:cs typeface="Times New Roman"/>
                <a:sym typeface="Times New Roman"/>
              </a:rPr>
              <a:t>Architecture Diagram</a:t>
            </a:r>
            <a:endParaRPr sz="3700">
              <a:solidFill>
                <a:srgbClr val="000000"/>
              </a:solidFill>
              <a:latin typeface="Times New Roman"/>
              <a:ea typeface="Times New Roman"/>
              <a:cs typeface="Times New Roman"/>
              <a:sym typeface="Times New Roman"/>
            </a:endParaRPr>
          </a:p>
        </p:txBody>
      </p:sp>
      <p:sp>
        <p:nvSpPr>
          <p:cNvPr id="81" name="Google Shape;81;p17"/>
          <p:cNvSpPr txBox="1"/>
          <p:nvPr>
            <p:ph idx="1" type="body"/>
          </p:nvPr>
        </p:nvSpPr>
        <p:spPr>
          <a:xfrm>
            <a:off x="311700" y="1389650"/>
            <a:ext cx="2972100" cy="280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200"/>
              <a:buNone/>
            </a:pPr>
            <a:r>
              <a:rPr lang="en-GB" sz="1500">
                <a:solidFill>
                  <a:srgbClr val="000000"/>
                </a:solidFill>
                <a:latin typeface="Times New Roman"/>
                <a:ea typeface="Times New Roman"/>
                <a:cs typeface="Times New Roman"/>
                <a:sym typeface="Times New Roman"/>
              </a:rPr>
              <a:t>Here we see the proposed model for project. The project comprises of :-</a:t>
            </a:r>
            <a:endParaRPr sz="1500">
              <a:solidFill>
                <a:srgbClr val="000000"/>
              </a:solidFill>
              <a:latin typeface="Times New Roman"/>
              <a:ea typeface="Times New Roman"/>
              <a:cs typeface="Times New Roman"/>
              <a:sym typeface="Times New Roman"/>
            </a:endParaRPr>
          </a:p>
          <a:p>
            <a:pPr indent="-323850" lvl="0" marL="457200" rtl="0" algn="l">
              <a:lnSpc>
                <a:spcPct val="115000"/>
              </a:lnSpc>
              <a:spcBef>
                <a:spcPts val="1600"/>
              </a:spcBef>
              <a:spcAft>
                <a:spcPts val="0"/>
              </a:spcAft>
              <a:buClr>
                <a:srgbClr val="000000"/>
              </a:buClr>
              <a:buSzPts val="1500"/>
              <a:buFont typeface="Times New Roman"/>
              <a:buAutoNum type="arabicPeriod"/>
            </a:pPr>
            <a:r>
              <a:rPr lang="en-GB" sz="1500">
                <a:solidFill>
                  <a:srgbClr val="000000"/>
                </a:solidFill>
                <a:latin typeface="Times New Roman"/>
                <a:ea typeface="Times New Roman"/>
                <a:cs typeface="Times New Roman"/>
                <a:sym typeface="Times New Roman"/>
              </a:rPr>
              <a:t>Database with acted speech</a:t>
            </a:r>
            <a:endParaRPr sz="15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000000"/>
              </a:buClr>
              <a:buSzPts val="1500"/>
              <a:buFont typeface="Times New Roman"/>
              <a:buAutoNum type="arabicPeriod"/>
            </a:pPr>
            <a:r>
              <a:rPr lang="en-GB" sz="1500">
                <a:solidFill>
                  <a:srgbClr val="000000"/>
                </a:solidFill>
                <a:latin typeface="Times New Roman"/>
                <a:ea typeface="Times New Roman"/>
                <a:cs typeface="Times New Roman"/>
                <a:sym typeface="Times New Roman"/>
              </a:rPr>
              <a:t>Training &amp; testing phase comprising of :-</a:t>
            </a:r>
            <a:endParaRPr sz="1500">
              <a:solidFill>
                <a:srgbClr val="000000"/>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rgbClr val="000000"/>
              </a:buClr>
              <a:buSzPts val="1500"/>
              <a:buFont typeface="Times New Roman"/>
              <a:buAutoNum type="alphaLcPeriod"/>
            </a:pPr>
            <a:r>
              <a:rPr lang="en-GB" sz="1500">
                <a:solidFill>
                  <a:srgbClr val="000000"/>
                </a:solidFill>
                <a:latin typeface="Times New Roman"/>
                <a:ea typeface="Times New Roman"/>
                <a:cs typeface="Times New Roman"/>
                <a:sym typeface="Times New Roman"/>
              </a:rPr>
              <a:t>Signal Processing</a:t>
            </a:r>
            <a:endParaRPr sz="1500">
              <a:solidFill>
                <a:srgbClr val="000000"/>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rgbClr val="000000"/>
              </a:buClr>
              <a:buSzPts val="1500"/>
              <a:buFont typeface="Times New Roman"/>
              <a:buAutoNum type="alphaLcPeriod"/>
            </a:pPr>
            <a:r>
              <a:rPr lang="en-GB" sz="1500">
                <a:solidFill>
                  <a:srgbClr val="000000"/>
                </a:solidFill>
                <a:latin typeface="Times New Roman"/>
                <a:ea typeface="Times New Roman"/>
                <a:cs typeface="Times New Roman"/>
                <a:sym typeface="Times New Roman"/>
              </a:rPr>
              <a:t>Feature calculation</a:t>
            </a:r>
            <a:endParaRPr sz="1500">
              <a:solidFill>
                <a:srgbClr val="000000"/>
              </a:solidFill>
              <a:latin typeface="Times New Roman"/>
              <a:ea typeface="Times New Roman"/>
              <a:cs typeface="Times New Roman"/>
              <a:sym typeface="Times New Roman"/>
            </a:endParaRPr>
          </a:p>
          <a:p>
            <a:pPr indent="-323850" lvl="1" marL="914400" rtl="0" algn="l">
              <a:lnSpc>
                <a:spcPct val="115000"/>
              </a:lnSpc>
              <a:spcBef>
                <a:spcPts val="0"/>
              </a:spcBef>
              <a:spcAft>
                <a:spcPts val="0"/>
              </a:spcAft>
              <a:buClr>
                <a:srgbClr val="000000"/>
              </a:buClr>
              <a:buSzPts val="1500"/>
              <a:buFont typeface="Times New Roman"/>
              <a:buAutoNum type="alphaLcPeriod"/>
            </a:pPr>
            <a:r>
              <a:rPr lang="en-GB" sz="1500">
                <a:solidFill>
                  <a:srgbClr val="000000"/>
                </a:solidFill>
                <a:latin typeface="Times New Roman"/>
                <a:ea typeface="Times New Roman"/>
                <a:cs typeface="Times New Roman"/>
                <a:sym typeface="Times New Roman"/>
              </a:rPr>
              <a:t>Classification</a:t>
            </a:r>
            <a:endParaRPr sz="1500">
              <a:solidFill>
                <a:srgbClr val="000000"/>
              </a:solidFill>
              <a:latin typeface="Times New Roman"/>
              <a:ea typeface="Times New Roman"/>
              <a:cs typeface="Times New Roman"/>
              <a:sym typeface="Times New Roman"/>
            </a:endParaRPr>
          </a:p>
          <a:p>
            <a:pPr indent="0" lvl="0" marL="0" rtl="0" algn="l">
              <a:lnSpc>
                <a:spcPct val="115000"/>
              </a:lnSpc>
              <a:spcBef>
                <a:spcPts val="1600"/>
              </a:spcBef>
              <a:spcAft>
                <a:spcPts val="0"/>
              </a:spcAft>
              <a:buSzPts val="1200"/>
              <a:buNone/>
            </a:pPr>
            <a:r>
              <a:t/>
            </a:r>
            <a:endParaRPr>
              <a:solidFill>
                <a:srgbClr val="000000"/>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SzPts val="1200"/>
              <a:buNone/>
            </a:pPr>
            <a:r>
              <a:t/>
            </a:r>
            <a:endParaRPr>
              <a:solidFill>
                <a:srgbClr val="000000"/>
              </a:solidFill>
              <a:latin typeface="Times New Roman"/>
              <a:ea typeface="Times New Roman"/>
              <a:cs typeface="Times New Roman"/>
              <a:sym typeface="Times New Roman"/>
            </a:endParaRPr>
          </a:p>
        </p:txBody>
      </p:sp>
      <p:pic>
        <p:nvPicPr>
          <p:cNvPr id="82" name="Google Shape;82;p17"/>
          <p:cNvPicPr preferRelativeResize="0"/>
          <p:nvPr/>
        </p:nvPicPr>
        <p:blipFill rotWithShape="1">
          <a:blip r:embed="rId3">
            <a:alphaModFix/>
          </a:blip>
          <a:srcRect b="0" l="0" r="0" t="0"/>
          <a:stretch/>
        </p:blipFill>
        <p:spPr>
          <a:xfrm>
            <a:off x="3723000" y="152400"/>
            <a:ext cx="5047525" cy="4134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18"/>
          <p:cNvSpPr txBox="1"/>
          <p:nvPr>
            <p:ph type="title"/>
          </p:nvPr>
        </p:nvSpPr>
        <p:spPr>
          <a:xfrm>
            <a:off x="311700" y="421225"/>
            <a:ext cx="2934600" cy="890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GB">
                <a:solidFill>
                  <a:srgbClr val="000000"/>
                </a:solidFill>
                <a:latin typeface="Times New Roman"/>
                <a:ea typeface="Times New Roman"/>
                <a:cs typeface="Times New Roman"/>
                <a:sym typeface="Times New Roman"/>
              </a:rPr>
              <a:t>Algorithm for Voice recognition</a:t>
            </a:r>
            <a:endParaRPr>
              <a:solidFill>
                <a:srgbClr val="000000"/>
              </a:solidFill>
              <a:latin typeface="Times New Roman"/>
              <a:ea typeface="Times New Roman"/>
              <a:cs typeface="Times New Roman"/>
              <a:sym typeface="Times New Roman"/>
            </a:endParaRPr>
          </a:p>
        </p:txBody>
      </p:sp>
      <p:sp>
        <p:nvSpPr>
          <p:cNvPr id="88" name="Google Shape;88;p18"/>
          <p:cNvSpPr txBox="1"/>
          <p:nvPr>
            <p:ph idx="1" type="body"/>
          </p:nvPr>
        </p:nvSpPr>
        <p:spPr>
          <a:xfrm>
            <a:off x="311700" y="1389600"/>
            <a:ext cx="3163500" cy="362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rgbClr val="000000"/>
                </a:solidFill>
              </a:rPr>
              <a:t>A voice analysis is done after taking an input through a microphone from a  user. The design of the system involves manipulation of the input audio  signal. At different levels, different operations are performed on the input signal such as Pre-emphasis, Framing, Windowing,  Mel  Cepstrum  analysis and Recognition (Matching) of the spoken word. The voice algorithms consist of two distinguished phases. The first one is training sessions, whilst the second one is referred to as the operation session or testing phase.</a:t>
            </a:r>
            <a:endParaRPr>
              <a:solidFill>
                <a:srgbClr val="000000"/>
              </a:solidFill>
            </a:endParaRPr>
          </a:p>
          <a:p>
            <a:pPr indent="0" lvl="0" marL="0" rtl="0" algn="l">
              <a:lnSpc>
                <a:spcPct val="115000"/>
              </a:lnSpc>
              <a:spcBef>
                <a:spcPts val="1600"/>
              </a:spcBef>
              <a:spcAft>
                <a:spcPts val="1600"/>
              </a:spcAft>
              <a:buSzPts val="1200"/>
              <a:buNone/>
            </a:pPr>
            <a:r>
              <a:t/>
            </a:r>
            <a:endParaRPr>
              <a:solidFill>
                <a:srgbClr val="000000"/>
              </a:solidFill>
            </a:endParaRPr>
          </a:p>
        </p:txBody>
      </p:sp>
      <p:pic>
        <p:nvPicPr>
          <p:cNvPr id="89" name="Google Shape;89;p18"/>
          <p:cNvPicPr preferRelativeResize="0"/>
          <p:nvPr/>
        </p:nvPicPr>
        <p:blipFill rotWithShape="1">
          <a:blip r:embed="rId3">
            <a:alphaModFix/>
          </a:blip>
          <a:srcRect b="0" l="0" r="0" t="0"/>
          <a:stretch/>
        </p:blipFill>
        <p:spPr>
          <a:xfrm>
            <a:off x="3589800" y="1389600"/>
            <a:ext cx="5340450" cy="2378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19"/>
          <p:cNvSpPr txBox="1"/>
          <p:nvPr>
            <p:ph type="title"/>
          </p:nvPr>
        </p:nvSpPr>
        <p:spPr>
          <a:xfrm>
            <a:off x="311700" y="555600"/>
            <a:ext cx="76377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GB" sz="3400">
                <a:solidFill>
                  <a:srgbClr val="000000"/>
                </a:solidFill>
                <a:latin typeface="Times New Roman"/>
                <a:ea typeface="Times New Roman"/>
                <a:cs typeface="Times New Roman"/>
                <a:sym typeface="Times New Roman"/>
              </a:rPr>
              <a:t>Database Details</a:t>
            </a:r>
            <a:endParaRPr sz="3400">
              <a:solidFill>
                <a:srgbClr val="000000"/>
              </a:solidFill>
              <a:latin typeface="Times New Roman"/>
              <a:ea typeface="Times New Roman"/>
              <a:cs typeface="Times New Roman"/>
              <a:sym typeface="Times New Roman"/>
            </a:endParaRPr>
          </a:p>
        </p:txBody>
      </p:sp>
      <p:sp>
        <p:nvSpPr>
          <p:cNvPr id="95" name="Google Shape;95;p19"/>
          <p:cNvSpPr txBox="1"/>
          <p:nvPr>
            <p:ph idx="1" type="body"/>
          </p:nvPr>
        </p:nvSpPr>
        <p:spPr>
          <a:xfrm>
            <a:off x="311700" y="1389600"/>
            <a:ext cx="7322100" cy="31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700">
                <a:solidFill>
                  <a:srgbClr val="000000"/>
                </a:solidFill>
                <a:latin typeface="Times New Roman"/>
                <a:ea typeface="Times New Roman"/>
                <a:cs typeface="Times New Roman"/>
                <a:sym typeface="Times New Roman"/>
              </a:rPr>
              <a:t>The database used Surrey Audio-Visual Expresses Emotion (SAVEE) Database.</a:t>
            </a:r>
            <a:endParaRPr sz="1700">
              <a:solidFill>
                <a:srgbClr val="000000"/>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SzPts val="1200"/>
              <a:buNone/>
            </a:pPr>
            <a:r>
              <a:rPr lang="en-GB" sz="1700">
                <a:solidFill>
                  <a:srgbClr val="000000"/>
                </a:solidFill>
                <a:latin typeface="Times New Roman"/>
                <a:ea typeface="Times New Roman"/>
                <a:cs typeface="Times New Roman"/>
                <a:sym typeface="Times New Roman"/>
              </a:rPr>
              <a:t>The SAVEE database was recorded from four native English male speakers. Emotion has been described psychologically in discrete categories: anger, disgust, fear, happiness, sadness and surprise.We added neutral to provide recordings of 7 emotion categories. The text material consisted of 15 TIMIT sentences per emotion: 3 common, 2 emotion-specific and 10 generic sentences that were different for each emotion and phonetically-balanced. The 3 common and 2× 6 = 12 emotion-specific sentences were recorded as neutral to give 30 neutral sentences. This resulted in a total of 120 utterances per speaker.</a:t>
            </a:r>
            <a:endParaRPr sz="170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330450"/>
            <a:ext cx="7535700" cy="54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GB"/>
              <a:t>Modules Screenshot (Main app working)</a:t>
            </a:r>
            <a:endParaRPr/>
          </a:p>
        </p:txBody>
      </p:sp>
      <p:pic>
        <p:nvPicPr>
          <p:cNvPr id="101" name="Google Shape;101;p20"/>
          <p:cNvPicPr preferRelativeResize="0"/>
          <p:nvPr/>
        </p:nvPicPr>
        <p:blipFill rotWithShape="1">
          <a:blip r:embed="rId3">
            <a:alphaModFix/>
          </a:blip>
          <a:srcRect b="18533" l="20804" r="0" t="0"/>
          <a:stretch/>
        </p:blipFill>
        <p:spPr>
          <a:xfrm>
            <a:off x="968975" y="1023450"/>
            <a:ext cx="6878427" cy="37522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ctrTitle"/>
          </p:nvPr>
        </p:nvSpPr>
        <p:spPr>
          <a:xfrm>
            <a:off x="311700" y="744575"/>
            <a:ext cx="2260200" cy="651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GB" sz="3000">
                <a:latin typeface="Times New Roman"/>
                <a:ea typeface="Times New Roman"/>
                <a:cs typeface="Times New Roman"/>
                <a:sym typeface="Times New Roman"/>
              </a:rPr>
              <a:t>Main.m</a:t>
            </a:r>
            <a:endParaRPr sz="3000">
              <a:latin typeface="Times New Roman"/>
              <a:ea typeface="Times New Roman"/>
              <a:cs typeface="Times New Roman"/>
              <a:sym typeface="Times New Roman"/>
            </a:endParaRPr>
          </a:p>
        </p:txBody>
      </p:sp>
      <p:pic>
        <p:nvPicPr>
          <p:cNvPr id="107" name="Google Shape;107;p21"/>
          <p:cNvPicPr preferRelativeResize="0"/>
          <p:nvPr/>
        </p:nvPicPr>
        <p:blipFill rotWithShape="1">
          <a:blip r:embed="rId3">
            <a:alphaModFix/>
          </a:blip>
          <a:srcRect b="0" l="21119" r="45005" t="0"/>
          <a:stretch/>
        </p:blipFill>
        <p:spPr>
          <a:xfrm>
            <a:off x="3736775" y="300500"/>
            <a:ext cx="4186275" cy="4509200"/>
          </a:xfrm>
          <a:prstGeom prst="rect">
            <a:avLst/>
          </a:prstGeom>
          <a:noFill/>
          <a:ln>
            <a:noFill/>
          </a:ln>
        </p:spPr>
      </p:pic>
      <p:sp>
        <p:nvSpPr>
          <p:cNvPr id="108" name="Google Shape;108;p21"/>
          <p:cNvSpPr txBox="1"/>
          <p:nvPr>
            <p:ph idx="1" type="subTitle"/>
          </p:nvPr>
        </p:nvSpPr>
        <p:spPr>
          <a:xfrm>
            <a:off x="311700" y="1580600"/>
            <a:ext cx="2906100" cy="3090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GB" sz="2200">
                <a:solidFill>
                  <a:srgbClr val="000000"/>
                </a:solidFill>
                <a:latin typeface="Times New Roman"/>
                <a:ea typeface="Times New Roman"/>
                <a:cs typeface="Times New Roman"/>
                <a:sym typeface="Times New Roman"/>
              </a:rPr>
              <a:t>It calculates distance between test sample and ref samples. After calculating distances, it assign label of minimum distance reference sample to test sample.</a:t>
            </a:r>
            <a:endParaRPr sz="220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182325"/>
            <a:ext cx="7131000" cy="909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GB">
                <a:solidFill>
                  <a:srgbClr val="000000"/>
                </a:solidFill>
              </a:rPr>
              <a:t>Conclusion</a:t>
            </a:r>
            <a:endParaRPr>
              <a:solidFill>
                <a:srgbClr val="000000"/>
              </a:solidFill>
            </a:endParaRPr>
          </a:p>
        </p:txBody>
      </p:sp>
      <p:sp>
        <p:nvSpPr>
          <p:cNvPr id="114" name="Google Shape;114;p22"/>
          <p:cNvSpPr txBox="1"/>
          <p:nvPr>
            <p:ph idx="1" type="body"/>
          </p:nvPr>
        </p:nvSpPr>
        <p:spPr>
          <a:xfrm>
            <a:off x="311700" y="1160150"/>
            <a:ext cx="7131000" cy="2703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GB" sz="1700">
                <a:solidFill>
                  <a:srgbClr val="000000"/>
                </a:solidFill>
                <a:latin typeface="Times New Roman"/>
                <a:ea typeface="Times New Roman"/>
                <a:cs typeface="Times New Roman"/>
                <a:sym typeface="Times New Roman"/>
              </a:rPr>
              <a:t>We have implemented Emotion Recognition from voice signals for six different emotions namely happy, sad, disgust, fear, anger, surprise and neutral from the English database. The feature extraction technique that we have used is Mel Frequency Cepstral Coefficient (MFCC).</a:t>
            </a:r>
            <a:endParaRPr sz="17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200"/>
              <a:buNone/>
            </a:pPr>
            <a:r>
              <a:t/>
            </a:r>
            <a:endParaRPr sz="1700">
              <a:solidFill>
                <a:srgbClr val="000000"/>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SzPts val="1200"/>
              <a:buNone/>
            </a:pPr>
            <a:r>
              <a:rPr lang="en-GB" sz="1700">
                <a:solidFill>
                  <a:srgbClr val="000000"/>
                </a:solidFill>
                <a:latin typeface="Times New Roman"/>
                <a:ea typeface="Times New Roman"/>
                <a:cs typeface="Times New Roman"/>
                <a:sym typeface="Times New Roman"/>
              </a:rPr>
              <a:t>Future Uses include automating evaluation of customer experience. AI decision making. Recognising distress etc.</a:t>
            </a:r>
            <a:r>
              <a:rPr lang="en-GB" sz="1700">
                <a:solidFill>
                  <a:schemeClr val="dk1"/>
                </a:solidFill>
                <a:latin typeface="Times New Roman"/>
                <a:ea typeface="Times New Roman"/>
                <a:cs typeface="Times New Roman"/>
                <a:sym typeface="Times New Roman"/>
              </a:rPr>
              <a:t>This model can be improved by using Hidden Markov Model (HMM) for further increasing the accuracy.</a:t>
            </a:r>
            <a:endParaRPr sz="170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GB"/>
              <a:t>References</a:t>
            </a:r>
            <a:endParaRPr/>
          </a:p>
        </p:txBody>
      </p:sp>
      <p:sp>
        <p:nvSpPr>
          <p:cNvPr id="120" name="Google Shape;120;p23"/>
          <p:cNvSpPr txBox="1"/>
          <p:nvPr>
            <p:ph idx="1" type="body"/>
          </p:nvPr>
        </p:nvSpPr>
        <p:spPr>
          <a:xfrm>
            <a:off x="311700" y="1389600"/>
            <a:ext cx="8493000" cy="3179400"/>
          </a:xfrm>
          <a:prstGeom prst="rect">
            <a:avLst/>
          </a:prstGeom>
          <a:noFill/>
          <a:ln>
            <a:noFill/>
          </a:ln>
        </p:spPr>
        <p:txBody>
          <a:bodyPr anchorCtr="0" anchor="t" bIns="91425" lIns="91425" spcFirstLastPara="1" rIns="91425" wrap="square" tIns="91425">
            <a:noAutofit/>
          </a:bodyPr>
          <a:lstStyle/>
          <a:p>
            <a:pPr indent="-304800" lvl="0" marL="457200" marR="705485" rtl="0" algn="l">
              <a:lnSpc>
                <a:spcPct val="75833"/>
              </a:lnSpc>
              <a:spcBef>
                <a:spcPts val="615"/>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Voice RecognitionAlgorithmsusingMelFrequencyCepstralCoefficient(MFCC) and Dynamic Time Warping(DTW) Techniques, LindasalwaMuda, Mumtaj BegamandI. Elamvazuthi</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GB">
                <a:solidFill>
                  <a:schemeClr val="hlink"/>
                </a:solidFill>
                <a:uFill>
                  <a:noFill/>
                </a:uFill>
                <a:latin typeface="Times New Roman"/>
                <a:ea typeface="Times New Roman"/>
                <a:cs typeface="Times New Roman"/>
                <a:sym typeface="Times New Roman"/>
                <a:hlinkClick r:id="rId3"/>
              </a:rPr>
              <a:t>http://www.ee.ic.ac.uk/hp/staff/dmb/voicebox/voicebox.html</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GB">
                <a:solidFill>
                  <a:schemeClr val="hlink"/>
                </a:solidFill>
                <a:uFill>
                  <a:noFill/>
                </a:uFill>
                <a:latin typeface="Times New Roman"/>
                <a:ea typeface="Times New Roman"/>
                <a:cs typeface="Times New Roman"/>
                <a:sym typeface="Times New Roman"/>
                <a:hlinkClick r:id="rId4"/>
              </a:rPr>
              <a:t>http://wearables.cc.gatech.edu/paper_of_week/DTW_myths.pdf</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https://www.psb.ugent.be/cbd/papers/gentxwarper/DTWalgorithm.html</a:t>
            </a:r>
            <a:endParaRPr sz="800">
              <a:solidFill>
                <a:schemeClr val="dk1"/>
              </a:solidFill>
              <a:latin typeface="Times New Roman"/>
              <a:ea typeface="Times New Roman"/>
              <a:cs typeface="Times New Roman"/>
              <a:sym typeface="Times New Roman"/>
            </a:endParaRPr>
          </a:p>
          <a:p>
            <a:pPr indent="-304800" lvl="0" marL="457200" marR="645795" rtl="0" algn="l">
              <a:lnSpc>
                <a:spcPct val="75833"/>
              </a:lnSpc>
              <a:spcBef>
                <a:spcPts val="0"/>
              </a:spcBef>
              <a:spcAft>
                <a:spcPts val="0"/>
              </a:spcAft>
              <a:buClr>
                <a:schemeClr val="dk1"/>
              </a:buClr>
              <a:buSzPts val="1200"/>
              <a:buFont typeface="Times New Roman"/>
              <a:buChar char="●"/>
            </a:pPr>
            <a:r>
              <a:rPr lang="en-GB">
                <a:solidFill>
                  <a:schemeClr val="hlink"/>
                </a:solidFill>
                <a:uFill>
                  <a:noFill/>
                </a:uFill>
                <a:latin typeface="Times New Roman"/>
                <a:ea typeface="Times New Roman"/>
                <a:cs typeface="Times New Roman"/>
                <a:sym typeface="Times New Roman"/>
                <a:hlinkClick r:id="rId5"/>
              </a:rPr>
              <a:t>http://www.phon.ox.ac.uk/jcoleman/old_SLP/Lecture_5/DTW_explanation.ht</a:t>
            </a:r>
            <a:r>
              <a:rPr lang="en-GB">
                <a:solidFill>
                  <a:schemeClr val="dk1"/>
                </a:solidFill>
                <a:latin typeface="Times New Roman"/>
                <a:ea typeface="Times New Roman"/>
                <a:cs typeface="Times New Roman"/>
                <a:sym typeface="Times New Roman"/>
              </a:rPr>
              <a:t> ml</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http://www-db.deis.unibo.it/courses/SI-M/slides/04.5.TimeSeries2.pdf</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https://www.vocal.com/speech-recognition</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http://staffwww.dcs.shef.ac.uk/people/S.Wrigley/com326/sym.html</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https://lemonzi.files.wordpress.com/2013/01/dtw.pdf</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http://kahlan.eps.surrey.ac.uk/savee/</a:t>
            </a:r>
            <a:endParaRPr sz="800">
              <a:solidFill>
                <a:schemeClr val="dk1"/>
              </a:solidFill>
              <a:latin typeface="Times New Roman"/>
              <a:ea typeface="Times New Roman"/>
              <a:cs typeface="Times New Roman"/>
              <a:sym typeface="Times New Roman"/>
            </a:endParaRPr>
          </a:p>
          <a:p>
            <a:pPr indent="-304800" lvl="0" marL="457200" marR="800100" rtl="0" algn="l">
              <a:lnSpc>
                <a:spcPct val="75833"/>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http://practicalcryptography.com/miscellaneous/machine-learning/guide- mel-frequency-cepstral-coefficients-mfccs/</a:t>
            </a:r>
            <a:endParaRPr>
              <a:solidFill>
                <a:schemeClr val="dk1"/>
              </a:solidFill>
              <a:latin typeface="Times New Roman"/>
              <a:ea typeface="Times New Roman"/>
              <a:cs typeface="Times New Roman"/>
              <a:sym typeface="Times New Roman"/>
            </a:endParaRPr>
          </a:p>
          <a:p>
            <a:pPr indent="-298450" lvl="0" marL="457200" marR="721360" rtl="0" algn="l">
              <a:lnSpc>
                <a:spcPct val="72916"/>
              </a:lnSpc>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Santosh Chapaneri , ”Spoken digits recognition using weighted MFCC and improved features for Dynamic time Warping” , </a:t>
            </a:r>
            <a:r>
              <a:rPr lang="en-GB" sz="1250">
                <a:solidFill>
                  <a:schemeClr val="dk1"/>
                </a:solidFill>
                <a:latin typeface="Times New Roman"/>
                <a:ea typeface="Times New Roman"/>
                <a:cs typeface="Times New Roman"/>
                <a:sym typeface="Times New Roman"/>
              </a:rPr>
              <a:t>International Journal of Computer Applications, </a:t>
            </a:r>
            <a:r>
              <a:rPr lang="en-GB">
                <a:solidFill>
                  <a:schemeClr val="dk1"/>
                </a:solidFill>
                <a:latin typeface="Times New Roman"/>
                <a:ea typeface="Times New Roman"/>
                <a:cs typeface="Times New Roman"/>
                <a:sym typeface="Times New Roman"/>
              </a:rPr>
              <a:t>vol.40,pp.975, Feb 2012.</a:t>
            </a:r>
            <a:endParaRPr>
              <a:solidFill>
                <a:schemeClr val="dk1"/>
              </a:solidFill>
              <a:latin typeface="Times New Roman"/>
              <a:ea typeface="Times New Roman"/>
              <a:cs typeface="Times New Roman"/>
              <a:sym typeface="Times New Roman"/>
            </a:endParaRPr>
          </a:p>
          <a:p>
            <a:pPr indent="-298450" lvl="0" marL="457200" rtl="0" algn="l">
              <a:lnSpc>
                <a:spcPct val="100000"/>
              </a:lnSpc>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http://in.mathworks.com/matlabcentral/fileexchange/24583-mirtoolbox</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